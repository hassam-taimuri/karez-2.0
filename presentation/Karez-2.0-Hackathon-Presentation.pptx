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Karez reads government construction tenders and audits a contractor's eligibility BEFORE submission - when paperwork defects can still be fixed. Named for the karez channels of Balochistan.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35-40% technical disqualification rate; PKR 500B+ annual tender value. The defects are trivial and fixable - if caught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is a real, common disqualification ground under PPRA Rules 2004. None is about the quality or price of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bid preparation teams at PEC-registered contractors, and the consultants who prepare bids for them. Demo target: scan to checklist in under 60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image is our synthetic demo scan; right is the actual output of the OpenCV pipeline in the repo - deskew, HSV blue-stamp removal, adaptive threshold, despeckle. Extraction keeps page references.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differentiator: a compliance tool must be trustworthy about its own limits. Unknown means flagged, never guessed. This principle is enforced in code - the provider layer throws instead of returning synthetic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line: the LLM reads, the rules engine judges. Gemini is default; Qwen path ships in the repo (DASHSCOPE_API_KEY) - provider-agnostic by construction.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this slide exists in the public repo and is exercised in the live demo. Nothing shown is a mock.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framing: the tool pays for itself the first time it catches a Rs. 500 stamp paper mistake on a billion-rupee bid.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honest engine, wider coverage: provincial rules first (biggest demand), then EPADS integration.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honesty principle. Fill the three [INSERT] boxes after the repo push, deployment, and demo-account creation.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KAREZ 2.0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8716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pre-submission compliance for Pakistani government construction tenders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42900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karez </a:t>
            </a:r>
            <a:pPr indent="0" marL="0">
              <a:buNone/>
            </a:pPr>
            <a:r>
              <a:rPr lang="en-US" sz="1400" i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(n.) — the underground water channels of Balochistan: quiet infrastructure that carries something vital exactly where it is needed.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4389120"/>
            <a:ext cx="10515600" cy="0"/>
          </a:xfrm>
          <a:prstGeom prst="line">
            <a:avLst/>
          </a:prstGeom>
          <a:noFill/>
          <a:ln w="12700">
            <a:solidFill>
              <a:srgbClr val="3D7A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389120"/>
            <a:ext cx="0" cy="502920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758952" y="4828032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8" name="Shape 6"/>
          <p:cNvSpPr/>
          <p:nvPr/>
        </p:nvSpPr>
        <p:spPr>
          <a:xfrm>
            <a:off x="2926080" y="4389120"/>
            <a:ext cx="0" cy="553212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2862072" y="4878324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4892040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0" y="4389120"/>
            <a:ext cx="0" cy="603504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965192" y="4928616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3" name="Shape 11"/>
          <p:cNvSpPr/>
          <p:nvPr/>
        </p:nvSpPr>
        <p:spPr>
          <a:xfrm>
            <a:off x="2926080" y="4942332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0" y="4389120"/>
            <a:ext cx="0" cy="653796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068312" y="4978908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6" name="Shape 14"/>
          <p:cNvSpPr/>
          <p:nvPr/>
        </p:nvSpPr>
        <p:spPr>
          <a:xfrm>
            <a:off x="5029200" y="4992624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35440" y="4389120"/>
            <a:ext cx="0" cy="704088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171432" y="5029200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32320" y="5042916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338560" y="4389120"/>
            <a:ext cx="0" cy="754380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11274552" y="5079492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22" name="Shape 20"/>
          <p:cNvSpPr/>
          <p:nvPr/>
        </p:nvSpPr>
        <p:spPr>
          <a:xfrm>
            <a:off x="9235440" y="5093208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 Cloud AI Hackathon Pakistan 2026   •   Bano Qabil / Alkhidmat Foundation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&amp; WHO IT AFFECTS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contractors lose on paperwork, not price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Pakistani public construction procurement, bids are opened in two envelopes (PPRA Rule 36(b)). The technical envelope is checked first — and a single administrative defect ends the bid before the price is ever read.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 affects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 registered with the Pakistan Engineering Council — from C-A giants to C-6 small firms — bidding to NHA, LDA, C&amp;W, WAPDA and Pak PWD. Small and mid-size firms are hit hardest: they have no dedicated compliance departments, and one rejected bid can waste months of preparation and lock up bid-security capital.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0" y="1691640"/>
            <a:ext cx="4663440" cy="1298448"/>
          </a:xfrm>
          <a:prstGeom prst="roundRect">
            <a:avLst>
              <a:gd name="adj" fmla="val 6338"/>
            </a:avLst>
          </a:prstGeom>
          <a:solidFill>
            <a:srgbClr val="E9F4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86600" y="1801368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35–40%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9235440" y="1801368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bids are technically disqualified for paperwork defects — before price evaluation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0" y="3172968"/>
            <a:ext cx="4663440" cy="1298448"/>
          </a:xfrm>
          <a:prstGeom prst="roundRect">
            <a:avLst>
              <a:gd name="adj" fmla="val 6338"/>
            </a:avLst>
          </a:prstGeom>
          <a:solidFill>
            <a:srgbClr val="E9F4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086600" y="3282696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PKR 500B+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9235440" y="3282696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government construction work is tendered every year in Pakistan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0" y="4654296"/>
            <a:ext cx="4663440" cy="1298448"/>
          </a:xfrm>
          <a:prstGeom prst="roundRect">
            <a:avLst>
              <a:gd name="adj" fmla="val 6338"/>
            </a:avLst>
          </a:prstGeom>
          <a:solidFill>
            <a:srgbClr val="E9F4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6600" y="4764024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Rs. 500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235440" y="4764024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stamp-paper denomination that routinely kills billion-rupee bids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WAYS A COMPLIANT BIDDER GETS REJECTED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traps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202996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02996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9339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stamp-paper denomination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Affidavit on Rs. 100 paper where the tender demands Rs. 500 judicial stamp paper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16552" y="182880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10" name="Shape 8"/>
          <p:cNvSpPr/>
          <p:nvPr/>
        </p:nvSpPr>
        <p:spPr>
          <a:xfrm>
            <a:off x="4617720" y="202996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26280" y="202996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02352" y="199339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Expired PEC renewal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645152" y="269748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valid, but the annual renewal card for the current financial year is missing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93024" y="182880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15" name="Shape 13"/>
          <p:cNvSpPr/>
          <p:nvPr/>
        </p:nvSpPr>
        <p:spPr>
          <a:xfrm>
            <a:off x="8394192" y="202996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02752" y="202996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878824" y="199339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CDR / bid security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421624" y="269748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Deposit Receipt a few million rupees below the required 2–5% of estimated cost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20" name="Shape 18"/>
          <p:cNvSpPr/>
          <p:nvPr/>
        </p:nvSpPr>
        <p:spPr>
          <a:xfrm>
            <a:off x="841248" y="417880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417880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14223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non-blacklisting affidavit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8463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sworn declaration of never being blacklisted, attested by an Oath Commissioner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416552" y="397764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25" name="Shape 23"/>
          <p:cNvSpPr/>
          <p:nvPr/>
        </p:nvSpPr>
        <p:spPr>
          <a:xfrm>
            <a:off x="4617720" y="417880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26280" y="417880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102352" y="414223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 category or code mismatch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645152" y="48463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C-2 firm bidding a C-A tender, or a licence missing the CE02 bridges code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93024" y="397764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BEAEA"/>
          </a:solidFill>
          <a:ln/>
        </p:spPr>
      </p:sp>
      <p:sp>
        <p:nvSpPr>
          <p:cNvPr id="30" name="Shape 28"/>
          <p:cNvSpPr/>
          <p:nvPr/>
        </p:nvSpPr>
        <p:spPr>
          <a:xfrm>
            <a:off x="8394192" y="4178808"/>
            <a:ext cx="347472" cy="3474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02752" y="4178808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878824" y="414223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 the Active Taxpayer List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8421624" y="48463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NTN, but the firm has dropped off FBR's ATL at the date of opening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&amp; AUDIENCE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 → extract → audit, in under a minute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E9F4EC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29968"/>
            <a:ext cx="402336" cy="402336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299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20299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tender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8346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or digital PDF — every page is read, not just page 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55264" y="269748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84448" y="182880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E9F4EC"/>
          </a:solidFill>
          <a:ln/>
        </p:spPr>
      </p:sp>
      <p:sp>
        <p:nvSpPr>
          <p:cNvPr id="11" name="Shape 9"/>
          <p:cNvSpPr/>
          <p:nvPr/>
        </p:nvSpPr>
        <p:spPr>
          <a:xfrm>
            <a:off x="3813048" y="2029968"/>
            <a:ext cx="402336" cy="402336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21608" y="20299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334256" y="20299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criteria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813048" y="28346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LLM pulls PEC, turnover, CDR, affidavit and JV clauses — each with its page number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199632" y="269748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528816" y="182880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E9F4EC"/>
          </a:solidFill>
          <a:ln/>
        </p:spPr>
      </p:sp>
      <p:sp>
        <p:nvSpPr>
          <p:cNvPr id="17" name="Shape 15"/>
          <p:cNvSpPr/>
          <p:nvPr/>
        </p:nvSpPr>
        <p:spPr>
          <a:xfrm>
            <a:off x="6757416" y="2029968"/>
            <a:ext cx="402336" cy="402336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65976" y="20299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278624" y="20299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audit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757416" y="28346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TypeScript rules engine (no LLM) compares criteria with the bidder's profile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269748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473184" y="182880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E9F4EC"/>
          </a:solidFill>
          <a:ln/>
        </p:spPr>
      </p:sp>
      <p:sp>
        <p:nvSpPr>
          <p:cNvPr id="23" name="Shape 21"/>
          <p:cNvSpPr/>
          <p:nvPr/>
        </p:nvSpPr>
        <p:spPr>
          <a:xfrm>
            <a:off x="9701784" y="2029968"/>
            <a:ext cx="402336" cy="402336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610344" y="202996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222992" y="202996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Clause-by-clause verdict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9701784" y="28346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 /  FAILED — DISQUALIFICATION RISK  /  FLAGGED FOR HUMAN REVIEW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434840"/>
            <a:ext cx="10908792" cy="1600200"/>
          </a:xfrm>
          <a:prstGeom prst="roundRect">
            <a:avLst>
              <a:gd name="adj" fmla="val 5143"/>
            </a:avLst>
          </a:prstGeom>
          <a:solidFill>
            <a:srgbClr val="00401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400" y="4617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it helps fix what it found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audit report (print to PDF)   •   Technical-proposal skeleton   •   Affidavit text generator   •   CDR &amp; JV calculators   •   Two-envelope packing checklist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PREPROCESSING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crooked photocopy to structured criteria</a:t>
            </a:r>
            <a:endParaRPr lang="en-US" sz="3100" dirty="0"/>
          </a:p>
        </p:txBody>
      </p:sp>
      <p:pic>
        <p:nvPicPr>
          <p:cNvPr id="4" name="Image 0" descr="D:\office codes\karez-2.0\public\sample-pages\nha_page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2834640" cy="38953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58064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scan — tilted, speckled, blue agency stamp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657600" y="3566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pic>
        <p:nvPicPr>
          <p:cNvPr id="7" name="Image 1" descr="D:\office codes\karez-2.0\public\sample-pages\nha_page7_clean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828800"/>
            <a:ext cx="2834640" cy="38953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297680" y="58064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output of scripts/clean_scanned_pdf.py (OpenCV): deskewed, stamp removed, binarized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589520" y="1828800"/>
            <a:ext cx="3959352" cy="3895344"/>
          </a:xfrm>
          <a:prstGeom prst="roundRect">
            <a:avLst>
              <a:gd name="adj" fmla="val 2113"/>
            </a:avLst>
          </a:prstGeom>
          <a:solidFill>
            <a:srgbClr val="E9F4E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863840" y="205740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engine extracts from this page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7863840" y="265176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3-yr avg turnover — PKR 2,000,000,000 (p. 7)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CDR / bid security — PKR 97,000,000 (p. 7)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Bank rating — AA, scheduled bank (p. 7)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PEC category — NOT STATED on this page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JV rules — NOT STATED on this page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flagged for human review — never guessed.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4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CORE DESIGN DECISION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it is not on the page, we say NOT STATED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908792" cy="859536"/>
          </a:xfrm>
          <a:prstGeom prst="roundRect">
            <a:avLst>
              <a:gd name="adj" fmla="val 8511"/>
            </a:avLst>
          </a:prstGeom>
          <a:solidFill>
            <a:srgbClr val="0A5C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700784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invented thresholds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069080" y="1700784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PEC category, turnover, CDR or stamp value is never replaced with a “typical” default — it is flagged for human review with the reason “not stated on the pages analysed”.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615184"/>
            <a:ext cx="10908792" cy="859536"/>
          </a:xfrm>
          <a:prstGeom prst="roundRect">
            <a:avLst>
              <a:gd name="adj" fmla="val 8511"/>
            </a:avLst>
          </a:prstGeom>
          <a:solidFill>
            <a:srgbClr val="0A5C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2688336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is an error, not a template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069080" y="2688336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AI provider is down, the user sees a red error banner. The app never fabricates tender data to keep the demo pretty.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602736"/>
            <a:ext cx="10908792" cy="859536"/>
          </a:xfrm>
          <a:prstGeom prst="roundRect">
            <a:avLst>
              <a:gd name="adj" fmla="val 8511"/>
            </a:avLst>
          </a:prstGeom>
          <a:solidFill>
            <a:srgbClr val="0A5C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3675888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Plausibility guards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069080" y="3675888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 above PKR 500 Billion or a CDR above PKR 50 Billion is flagged as a probable units error — not silently passed.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590288"/>
            <a:ext cx="10908792" cy="859536"/>
          </a:xfrm>
          <a:prstGeom prst="roundRect">
            <a:avLst>
              <a:gd name="adj" fmla="val 8511"/>
            </a:avLst>
          </a:prstGeom>
          <a:solidFill>
            <a:srgbClr val="0A5C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663440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drafter cannot invent facts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069080" y="4663440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company details become [INSERT: …] placeholders. Failed audit checks are disclosed in the proposal and its cover letter — no false claims of full compliance.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577840"/>
            <a:ext cx="10908792" cy="859536"/>
          </a:xfrm>
          <a:prstGeom prst="roundRect">
            <a:avLst>
              <a:gd name="adj" fmla="val 8511"/>
            </a:avLst>
          </a:prstGeom>
          <a:solidFill>
            <a:srgbClr val="0A5C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5650992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paperwork about the paperwork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069080" y="5650992"/>
            <a:ext cx="7269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is labelled an AI-assisted pre-submission audit, signed by the bidder's own reviewers — no imitation government signatures.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TECHNOLOGY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Probabilistic reading, deterministic judgment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E9F4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37944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+ React 19 + Tailwind 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1837944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checklist, report &amp; calculator UI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4414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E9F4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2679192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pdf.js (in-browser)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679192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every page of the uploaded PDF — whole document analysed, not page 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32826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465576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E9F4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520440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provider layer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520440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by default; Alibaba Cloud Qwen supported via one env var — provider-agnostic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4123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306824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E9F4E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436168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compliance engine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4361688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TypeScript rules — PEC ranks, turnover, CDR, stamp paper, ATL, JV. No LLM inside.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291840" y="49651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148072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E9F4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5202936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 + Firestore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5202936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Multi-company workspaces with per-user security rules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architecture matters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2286000"/>
            <a:ext cx="4663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only reads; it never judges. Eligibility verdicts come from auditable, deterministic rules — the same input always gives the same verdict.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extracted value carries its page reference, so a human can verify the clause in seconds.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Domain-encoded expertise: PEC category hierarchy (C-A is the only “No Limit” class), CDR = bid security = earnest money, judicial stamp paper rules, Rule 36(b) envelopes.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every flagged clause supports reviewer override with an audit trail.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preprocessing (deskew, stamp removal, despeckle) for real-world photocopied tenders.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built and running — not a mock-up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78308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Whole-PDF analysis (≤15 MB) or up to 12 rendered page images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26480" y="1828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178308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Clause-by-clause checklist with page jumps &amp; OCR-confidence flags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478024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4780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32304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 category / specialization code matching (C-A … C-6)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2478024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26480" y="24780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2432304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Turnover, liquid assets &amp; CDR checks with deficit amounts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27248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1272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081528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Stamp-paper &amp; non-blacklisting affidavit verification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127248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26480" y="31272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3081528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FBR NTN / Active Taxpayer List status check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776472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3776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730752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 rules: partner cap, lead &amp; minor share thresholds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3776472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26480" y="3776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3730752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audit report — print-ready, disclaimered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4425696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44256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4379976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Technical-proposal skeleton with [INSERT] placeholders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17920" y="4425696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126480" y="44256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629400" y="4379976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Affidavit generator, CDR &amp; JV calculators, envelope checklist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" y="5074920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074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051560" y="502920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Urdu / English client briefing + WhatsApp summary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17920" y="5074920"/>
            <a:ext cx="274320" cy="274320"/>
          </a:xfrm>
          <a:prstGeom prst="ellipse">
            <a:avLst/>
          </a:prstGeom>
          <a:solidFill>
            <a:srgbClr val="00401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126480" y="5074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29400" y="502920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Multi-company workspaces (Firebase Auth + Firestore)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40080" y="5806440"/>
            <a:ext cx="10908792" cy="658368"/>
          </a:xfrm>
          <a:prstGeom prst="roundRect">
            <a:avLst>
              <a:gd name="adj" fmla="val 11111"/>
            </a:avLst>
          </a:prstGeom>
          <a:solidFill>
            <a:srgbClr val="E9F4E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14400" y="5870448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tsc --noEmit ✓     npm run build ✓     OpenCV pipeline runs from the CLI ✓     3 annotated sample tenders with synthetic scan pages in the repo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&amp; IMPACT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avoided disqualification is worth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9F4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116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 work preserved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1460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technical rejection wastes the full bid-preparation cycle — surveys, rate analysis, document attestation — and the tender does not wait.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9F4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92240" y="20116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unlocked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51460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security (2–5% of project cost) sits frozen with a rejected bid. For a PKR 5B tender that is ~PKR 100M of working capital.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9776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9F4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1605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→ under a minute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66344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cross-checking of a 100+ page tender against a firm's documents takes days of a senior engineer's time. Karez does the first pass in under 60 seconds.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9776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9F4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41605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Fairer competition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66344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small and mid-size firms stop losing on formalities, more qualified bidders survive to price evaluation — better outcomes for public money.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CHANNEL FLOWS NEXT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04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05840" y="3291840"/>
            <a:ext cx="10149840" cy="256032"/>
          </a:xfrm>
          <a:prstGeom prst="line">
            <a:avLst/>
          </a:prstGeom>
          <a:noFill/>
          <a:ln w="31750">
            <a:solidFill>
              <a:srgbClr val="8FC7A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" y="3191256"/>
            <a:ext cx="201168" cy="201168"/>
          </a:xfrm>
          <a:prstGeom prst="ellipse">
            <a:avLst/>
          </a:prstGeom>
          <a:solidFill>
            <a:srgbClr val="0040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2402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Provincial rule packs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143000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KPPRA, SPPRA, BPPRA and Punjab PPRA variations encoded in the same deterministic engine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42716" y="3255264"/>
            <a:ext cx="201168" cy="201168"/>
          </a:xfrm>
          <a:prstGeom prst="ellipse">
            <a:avLst/>
          </a:prstGeom>
          <a:solidFill>
            <a:srgbClr val="0040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83180" y="367588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EPADS addenda watcher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354580" y="4270248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e-procurement portal for corrigenda that silently change deadlines or criteria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0176" y="3319272"/>
            <a:ext cx="201168" cy="201168"/>
          </a:xfrm>
          <a:prstGeom prst="ellipse">
            <a:avLst/>
          </a:prstGeom>
          <a:solidFill>
            <a:srgbClr val="0040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0" y="2368296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OCR routing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271016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preprocessing pipeline choice for scanned vs digital documents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517636" y="3383280"/>
            <a:ext cx="201168" cy="201168"/>
          </a:xfrm>
          <a:prstGeom prst="ellipse">
            <a:avLst/>
          </a:prstGeom>
          <a:solidFill>
            <a:srgbClr val="0040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58100" y="3803904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past-bid repository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4398264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a firm's verified certificates and affidavits across bids, safely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1055096" y="3447288"/>
            <a:ext cx="201168" cy="201168"/>
          </a:xfrm>
          <a:prstGeom prst="ellipse">
            <a:avLst/>
          </a:prstGeom>
          <a:solidFill>
            <a:srgbClr val="00401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21240" y="249631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4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 profile consolidation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464040" y="1399032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partner profiles into a single audited joint-venture entity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4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work in 60 seconds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9F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NHA E-35 sample  →  watch the clause-by-clause audit  →  switch to the under-qualified bidder profile  →  every disqualification lights up  →  print the audit report.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3200400"/>
            <a:ext cx="3383280" cy="1143000"/>
          </a:xfrm>
          <a:prstGeom prst="roundRect">
            <a:avLst>
              <a:gd name="adj" fmla="val 7200"/>
            </a:avLst>
          </a:prstGeom>
          <a:solidFill>
            <a:srgbClr val="0A5C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repository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github.com/Hassam-Taimuri/karez-2.0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80560" y="3200400"/>
            <a:ext cx="3383280" cy="1143000"/>
          </a:xfrm>
          <a:prstGeom prst="roundRect">
            <a:avLst>
              <a:gd name="adj" fmla="val 7200"/>
            </a:avLst>
          </a:prstGeom>
          <a:solidFill>
            <a:srgbClr val="0A5C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0916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deployment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7091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karez-20.vercel.app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3200400"/>
            <a:ext cx="3383280" cy="1143000"/>
          </a:xfrm>
          <a:prstGeom prst="roundRect">
            <a:avLst>
              <a:gd name="adj" fmla="val 7200"/>
            </a:avLst>
          </a:prstGeom>
          <a:solidFill>
            <a:srgbClr val="0A5C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6676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Judges' demo login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with the submission entry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846320"/>
            <a:ext cx="10515600" cy="0"/>
          </a:xfrm>
          <a:prstGeom prst="line">
            <a:avLst/>
          </a:prstGeom>
          <a:noFill/>
          <a:ln w="12700">
            <a:solidFill>
              <a:srgbClr val="3D7A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846320"/>
            <a:ext cx="0" cy="502920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58952" y="5285232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6" name="Shape 14"/>
          <p:cNvSpPr/>
          <p:nvPr/>
        </p:nvSpPr>
        <p:spPr>
          <a:xfrm>
            <a:off x="2926080" y="4846320"/>
            <a:ext cx="0" cy="553212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862072" y="5335524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18" name="Shape 16"/>
          <p:cNvSpPr/>
          <p:nvPr/>
        </p:nvSpPr>
        <p:spPr>
          <a:xfrm>
            <a:off x="822960" y="5349240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0" y="4846320"/>
            <a:ext cx="0" cy="603504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965192" y="5385816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21" name="Shape 19"/>
          <p:cNvSpPr/>
          <p:nvPr/>
        </p:nvSpPr>
        <p:spPr>
          <a:xfrm>
            <a:off x="2926080" y="5399532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32320" y="4846320"/>
            <a:ext cx="0" cy="653796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7068312" y="5436108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24" name="Shape 22"/>
          <p:cNvSpPr/>
          <p:nvPr/>
        </p:nvSpPr>
        <p:spPr>
          <a:xfrm>
            <a:off x="5029200" y="5449824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35440" y="4846320"/>
            <a:ext cx="0" cy="704088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171432" y="5486400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27" name="Shape 25"/>
          <p:cNvSpPr/>
          <p:nvPr/>
        </p:nvSpPr>
        <p:spPr>
          <a:xfrm>
            <a:off x="7132320" y="5500116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338560" y="4846320"/>
            <a:ext cx="0" cy="754380"/>
          </a:xfrm>
          <a:prstGeom prst="line">
            <a:avLst/>
          </a:prstGeom>
          <a:noFill/>
          <a:ln w="12700">
            <a:solidFill>
              <a:srgbClr val="3D7A55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11274552" y="5536692"/>
            <a:ext cx="128016" cy="128016"/>
          </a:xfrm>
          <a:prstGeom prst="ellipse">
            <a:avLst/>
          </a:prstGeom>
          <a:solidFill>
            <a:srgbClr val="8FC7A2"/>
          </a:solidFill>
          <a:ln/>
        </p:spPr>
      </p:sp>
      <p:sp>
        <p:nvSpPr>
          <p:cNvPr id="30" name="Shape 28"/>
          <p:cNvSpPr/>
          <p:nvPr/>
        </p:nvSpPr>
        <p:spPr>
          <a:xfrm>
            <a:off x="9235440" y="5550408"/>
            <a:ext cx="2103120" cy="50292"/>
          </a:xfrm>
          <a:prstGeom prst="line">
            <a:avLst/>
          </a:prstGeom>
          <a:noFill/>
          <a:ln w="25400">
            <a:solidFill>
              <a:srgbClr val="8FC7A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C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Karez 2.0 — honest infrastructure for honest bidding.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2026-09-04T15:42:02Z</dcterms:created>
  <dcterms:modified xsi:type="dcterms:W3CDTF">2026-09-04T15:42:02Z</dcterms:modified>
</cp:coreProperties>
</file>