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Karez reads government construction tenders and audits a contractor's eligibility BEFORE submission - when paperwork defects can still be fixed. Named for the karez channels of Balochistan.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35-40% technical disqualification rate; PKR 500B+ annual tender value. The defects are trivial and fixable - if caught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real, common disqualification ground under PPRA Rules 2004. None is about the quality or price of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bid preparation teams at PEC-registered contractors, and the consultants who prepare bids for them. Demo target: scan to checklist in under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image is our synthetic demo scan; right is the actual output of the OpenCV pipeline in the repo - deskew, HSV blue-stamp removal, adaptive threshold, despeckle. Extraction keeps page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differentiator: a compliance tool must be trustworthy about its own limits. Unknown means flagged, never guessed. This principle is enforced in code - the provider layer throws instead of returning synthetic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the LLM reads, the rules engine judges. Gemini is default; Qwen path ships in the repo (DASHSCOPE_API_KEY) - provider-agnostic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exists in the public repo and is exercised in the live demo. Nothing shown is a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framing: the tool pays for itself the first time it catches a Rs. 500 stamp paper mistake on a billion-rupee bid.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honest engine, wider coverage: provincial rules first (biggest demand), then EPADS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honesty principle. Fill the three [INSERT] boxes after the repo push, deployment, and demo-account 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KAREZ 2.0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871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pre-submission compliance for Pakistani government construction tenders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karez </a:t>
            </a:r>
            <a:pPr indent="0" marL="0">
              <a:buNone/>
            </a:pPr>
            <a:r>
              <a:rPr lang="en-US" sz="1400" i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(n.) — the underground water channels of Balochistan: quiet infrastructure that carries something vital exactly where it is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389120"/>
            <a:ext cx="10515600" cy="0"/>
          </a:xfrm>
          <a:prstGeom prst="line">
            <a:avLst/>
          </a:prstGeom>
          <a:noFill/>
          <a:ln w="12700">
            <a:solidFill>
              <a:srgbClr val="3D7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389120"/>
            <a:ext cx="0" cy="502920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58952" y="4828032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4389120"/>
            <a:ext cx="0" cy="553212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862072" y="4878324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892040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4389120"/>
            <a:ext cx="0" cy="603504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965192" y="4928616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4942332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4389120"/>
            <a:ext cx="0" cy="653796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068312" y="4978908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4992624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4389120"/>
            <a:ext cx="0" cy="704088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171432" y="5029200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5042916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4389120"/>
            <a:ext cx="0" cy="754380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274552" y="5079492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5440" y="5093208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AI Hackathon Pakistan 2026   •   Bano Qabil / Alkhidmat Foundation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WHO IT AFFECTS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contractors lose on paperwork, not price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Pakistani public construction procurement, bids are opened in two envelopes (PPRA Rule 36(b)). The technical envelope is checked first — and a single administrative defect ends the bid before the price is ever read.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affects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registered with the Pakistan Engineering Council — from C-A giants to C-6 small firms — bidding to NHA, LDA, C&amp;W, WAPDA and Pak PWD. Small and mid-size firms are hit hardest: they have no dedicated compliance departments, and one rejected bid can waste months of preparation and lock up bid-security capital.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663440" cy="1298448"/>
          </a:xfrm>
          <a:prstGeom prst="roundRect">
            <a:avLst>
              <a:gd name="adj" fmla="val 6338"/>
            </a:avLst>
          </a:prstGeom>
          <a:solidFill>
            <a:srgbClr val="E9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86600" y="18013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35–40%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180136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bids are technically disqualified for paperwork defects — before price evaluation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3172968"/>
            <a:ext cx="4663440" cy="1298448"/>
          </a:xfrm>
          <a:prstGeom prst="roundRect">
            <a:avLst>
              <a:gd name="adj" fmla="val 6338"/>
            </a:avLst>
          </a:prstGeom>
          <a:solidFill>
            <a:srgbClr val="E9F4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0" y="3282696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500B+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3282696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government construction work is tendered every year in Pakistan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4654296"/>
            <a:ext cx="4663440" cy="1298448"/>
          </a:xfrm>
          <a:prstGeom prst="roundRect">
            <a:avLst>
              <a:gd name="adj" fmla="val 6338"/>
            </a:avLst>
          </a:prstGeom>
          <a:solidFill>
            <a:srgbClr val="E9F4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6600" y="4764024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500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476402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stamp-paper denomination that routinely kills billion-rupee bids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A COMPLIANT BIDDER GETS REJECTED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paperwork traps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BEAE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29968"/>
            <a:ext cx="347472" cy="34747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299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933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stamp-paper denomination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Affidavit on Rs. 100 paper where the tender demands Rs. 500 judicial stamp paper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BEAEA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029968"/>
            <a:ext cx="347472" cy="34747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0299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19933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PEC renewal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valid, but the annual renewal card for the current financial year is missing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BEA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2029968"/>
            <a:ext cx="347472" cy="34747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20299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19933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CDR / bid security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Deposit Receipt a few million rupees below the required 2–5% of estimated cost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BEAEA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178808"/>
            <a:ext cx="347472" cy="34747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17880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14223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non-blacklisting affidavit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sworn declaration of never being blacklisted, attested by an Oath Commissioner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9776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BEAE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178808"/>
            <a:ext cx="347472" cy="34747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17880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02352" y="414223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 category or code mismatch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C-2 firm bidding a C-A tender, or a licence missing the CE02 bridges code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3977640"/>
            <a:ext cx="3502152" cy="1920240"/>
          </a:xfrm>
          <a:prstGeom prst="roundRect">
            <a:avLst>
              <a:gd name="adj" fmla="val 4286"/>
            </a:avLst>
          </a:prstGeom>
          <a:solidFill>
            <a:srgbClr val="FBEAEA"/>
          </a:solidFill>
          <a:ln/>
        </p:spPr>
      </p:sp>
      <p:sp>
        <p:nvSpPr>
          <p:cNvPr id="30" name="Shape 28"/>
          <p:cNvSpPr/>
          <p:nvPr/>
        </p:nvSpPr>
        <p:spPr>
          <a:xfrm>
            <a:off x="8394192" y="4178808"/>
            <a:ext cx="347472" cy="34747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417880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78824" y="414223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Active Taxpayer List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421624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NTN, but the firm has dropped off FBR's ATL at the date of opening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&amp; AUDIENCE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→ extract → audit, in under a minute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E9F4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29968"/>
            <a:ext cx="402336" cy="402336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299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tender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or digital PDF — every page is read, not just page 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55264" y="26974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84448" y="18288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E9F4EC"/>
          </a:solidFill>
          <a:ln/>
        </p:spPr>
      </p:sp>
      <p:sp>
        <p:nvSpPr>
          <p:cNvPr id="11" name="Shape 9"/>
          <p:cNvSpPr/>
          <p:nvPr/>
        </p:nvSpPr>
        <p:spPr>
          <a:xfrm>
            <a:off x="3813048" y="2029968"/>
            <a:ext cx="402336" cy="402336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21608" y="20299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20299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criteria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 pulls PEC, turnover, CDR, affidavit and JV clauses — each with its page number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26974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28816" y="18288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E9F4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757416" y="2029968"/>
            <a:ext cx="402336" cy="402336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65976" y="20299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78624" y="20299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audit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757416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TypeScript rules engine (no LLM) compares criteria with the bidder's profile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6974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473184" y="18288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E9F4EC"/>
          </a:solidFill>
          <a:ln/>
        </p:spPr>
      </p:sp>
      <p:sp>
        <p:nvSpPr>
          <p:cNvPr id="23" name="Shape 21"/>
          <p:cNvSpPr/>
          <p:nvPr/>
        </p:nvSpPr>
        <p:spPr>
          <a:xfrm>
            <a:off x="9701784" y="2029968"/>
            <a:ext cx="402336" cy="402336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10344" y="20299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222992" y="20299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 verdict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701784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 /  FAILED — DISQUALIFICATION RISK  /  FLAGGED FOR HUMAN REVIEW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0040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it helps fix what it found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audit report (print to PDF)   •   Technical-proposal skeleton   •   Affidavit text generator   •   CDR &amp; JV calculators   •   Two-envelope packing checklist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PREPROCESSING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crooked photocopy to structured criteria</a:t>
            </a:r>
            <a:endParaRPr lang="en-US" sz="3100" dirty="0"/>
          </a:p>
        </p:txBody>
      </p:sp>
      <p:pic>
        <p:nvPicPr>
          <p:cNvPr id="4" name="Image 0" descr="D:\office codes\karez-2.0\public\sample-pages\nha_p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834640" cy="38953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scan — tilted, speckled, blue agency stamp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pic>
        <p:nvPicPr>
          <p:cNvPr id="7" name="Image 1" descr="D:\office codes\karez-2.0\public\sample-pages\nha_page7_clea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828800"/>
            <a:ext cx="2834640" cy="38953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976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output of scripts/clean_scanned_pdf.py (OpenCV): deskewed, stamp removed, binarized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89520" y="1828800"/>
            <a:ext cx="3959352" cy="3895344"/>
          </a:xfrm>
          <a:prstGeom prst="roundRect">
            <a:avLst>
              <a:gd name="adj" fmla="val 2113"/>
            </a:avLst>
          </a:prstGeom>
          <a:solidFill>
            <a:srgbClr val="E9F4E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863840" y="2057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extracts from this page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265176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3-yr avg turnover — PKR 2,000,000,000 (p. 7)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CDR / bid security — PKR 97,000,000 (p. 7)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Bank rating — AA, scheduled bank (p. 7)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PEC category — NOT STATED on this page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JV rules — NOT STATED on this page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flagged for human review — never guessed.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DESIGN DECISION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is not on the page, we say NOT STATED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08792" cy="859536"/>
          </a:xfrm>
          <a:prstGeom prst="roundRect">
            <a:avLst>
              <a:gd name="adj" fmla="val 8511"/>
            </a:avLst>
          </a:prstGeom>
          <a:solidFill>
            <a:srgbClr val="0A5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007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thresholds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700784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PEC category, turnover, CDR or stamp value is never replaced with a “typical” default — it is flagged for human review with the reason “not stated on the pages analysed”.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15184"/>
            <a:ext cx="10908792" cy="859536"/>
          </a:xfrm>
          <a:prstGeom prst="roundRect">
            <a:avLst>
              <a:gd name="adj" fmla="val 8511"/>
            </a:avLst>
          </a:prstGeom>
          <a:solidFill>
            <a:srgbClr val="0A5C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8833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an error, not a template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688336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provider is down, the user sees a red error banner. The app never fabricates tender data to keep the demo pretty.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10908792" cy="859536"/>
          </a:xfrm>
          <a:prstGeom prst="roundRect">
            <a:avLst>
              <a:gd name="adj" fmla="val 8511"/>
            </a:avLst>
          </a:prstGeom>
          <a:solidFill>
            <a:srgbClr val="0A5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7588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guards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3675888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above PKR 500 Billion or a CDR above PKR 50 Billion is flagged as a probable units error — not silently passed.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590288"/>
            <a:ext cx="10908792" cy="859536"/>
          </a:xfrm>
          <a:prstGeom prst="roundRect">
            <a:avLst>
              <a:gd name="adj" fmla="val 8511"/>
            </a:avLst>
          </a:prstGeom>
          <a:solidFill>
            <a:srgbClr val="0A5C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6634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drafter cannot invent facts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466344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company details become [INSERT: …] placeholders. Failed audit checks are disclosed in the proposal and its cover letter — no false claims of full compliance.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10908792" cy="859536"/>
          </a:xfrm>
          <a:prstGeom prst="roundRect">
            <a:avLst>
              <a:gd name="adj" fmla="val 8511"/>
            </a:avLst>
          </a:prstGeom>
          <a:solidFill>
            <a:srgbClr val="0A5C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6509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paperwork about the paperwork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5650992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labelled an AI-assisted pre-submission audit, signed by the bidder's own reviewers — no imitation government signatures.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reading, deterministic judgment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3794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 + Tailwind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83794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checklist, report &amp; calculator UI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7919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 (in-browser)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7919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every page of the uploaded PDF — whole document analysed, not page 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82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5204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layer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52044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by default; Alibaba Cloud Qwen supported via one env var — provider-agnostic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123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36168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compliance engine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36168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TypeScript rules — PEC ranks, turnover, CDR, stamp paper, ATL, JV. No LLM inside.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9651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20293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520293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workspaces with per-user security rules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28600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reads; it never judges. Eligibility verdicts come from auditable, deterministic rules — the same input always gives the same verdict.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value carries its page reference, so a human can verify the clause in seconds.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Domain-encoded expertise: PEC category hierarchy (C-A is the only “No Limit” class), CDR = bid security = earnest money, judicial stamp paper rules, Rule 36(b) envelopes.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every flagged clause supports reviewer override with an audit trail.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preprocessing (deskew, stamp removal, despeckle) for real-world photocopied tenders.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built and running — not a mock-up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83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Whole-PDF analysis (≤15 MB) or up to 12 rendered page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783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 checklist with page jumps &amp; OCR-confidence flags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78024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478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3230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 category / specialization code matching (C-A … C-6)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478024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478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43230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Turnover, liquid assets &amp; CDR checks with deficit amounts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2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08152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Stamp-paper &amp; non-blacklisting affidavit verification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127248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312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08152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 NTN / Active Taxpayer List status check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76472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776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73075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 rules: partner cap, lead &amp; minor share thresholds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776472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3776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73075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audit report — print-ready, disclaimered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425696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425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3799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Technical-proposal skeleton with [INSERT] placeholders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425696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4425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43799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Affidavit generator, CDR &amp; JV calculators, envelope checklist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074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0292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/ English client briefing + WhatsApp summary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5074920"/>
            <a:ext cx="274320" cy="274320"/>
          </a:xfrm>
          <a:prstGeom prst="ellipse">
            <a:avLst/>
          </a:prstGeom>
          <a:solidFill>
            <a:srgbClr val="00401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26480" y="5074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50292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workspaces (Firebase Auth + Firestore)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9F4E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400" y="5870448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tsc --noEmit ✓     npm run build ✓     OpenCV pipeline runs from the CLI ✓     3 annotated sample tenders with synthetic scan pages in the repo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&amp;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avoided disqualification is worth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9F4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work preserved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rejection wastes the full bid-preparation cycle — surveys, rate analysis, document attestation — and the tender does not wait.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9F4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unlocked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security (2–5% of project cost) sits frozen with a rejected bid. For a PKR 5B tender that is ~PKR 100M of working capital.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9F4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under a minute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cross-checking of a 100+ page tender against a firm's documents takes days of a senior engineer's time. Karez does the first pass in under 60 seconds.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9F4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160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competition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6634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small and mid-size firms stop losing on formalities, more qualified bidders survive to price evaluation — better outcomes for public money.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CHANNEL FLOWS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05840" y="3291840"/>
            <a:ext cx="10149840" cy="256032"/>
          </a:xfrm>
          <a:prstGeom prst="line">
            <a:avLst/>
          </a:prstGeom>
          <a:noFill/>
          <a:ln w="31750">
            <a:solidFill>
              <a:srgbClr val="8FC7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3191256"/>
            <a:ext cx="201168" cy="201168"/>
          </a:xfrm>
          <a:prstGeom prst="ellipse">
            <a:avLst/>
          </a:prstGeom>
          <a:solidFill>
            <a:srgbClr val="0040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rule packs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143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KPPRA, SPPRA, BPPRA and Punjab PPRA variations encoded in the same deterministic engine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2716" y="3255264"/>
            <a:ext cx="201168" cy="201168"/>
          </a:xfrm>
          <a:prstGeom prst="ellipse">
            <a:avLst/>
          </a:prstGeom>
          <a:solidFill>
            <a:srgbClr val="0040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3180" y="36758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EPADS addenda watcher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54580" y="427024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e-procurement portal for corrigenda that silently change deadlines or criteria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0176" y="3319272"/>
            <a:ext cx="201168" cy="201168"/>
          </a:xfrm>
          <a:prstGeom prst="ellipse">
            <a:avLst/>
          </a:prstGeom>
          <a:solidFill>
            <a:srgbClr val="0040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236829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OCR routing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271016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preprocessing pipeline choice for scanned vs digital documents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17636" y="3383280"/>
            <a:ext cx="201168" cy="201168"/>
          </a:xfrm>
          <a:prstGeom prst="ellipse">
            <a:avLst/>
          </a:prstGeom>
          <a:solidFill>
            <a:srgbClr val="0040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58100" y="380390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past-bid repository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29500" y="4398264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firm's verified certificates and affidavits across bids, safely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055096" y="3447288"/>
            <a:ext cx="201168" cy="201168"/>
          </a:xfrm>
          <a:prstGeom prst="ellipse">
            <a:avLst/>
          </a:prstGeom>
          <a:solidFill>
            <a:srgbClr val="0040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21240" y="24963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 profile consolidation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139903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partner profiles into a single audited joint-venture entity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work in 60 seconds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NHA E-35 sample  →  watch the clause-by-clause audit  →  switch to the under-qualified bidder profile  →  every disqualification lights up  →  print the audit report.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3383280" cy="1143000"/>
          </a:xfrm>
          <a:prstGeom prst="roundRect">
            <a:avLst>
              <a:gd name="adj" fmla="val 7200"/>
            </a:avLst>
          </a:prstGeom>
          <a:solidFill>
            <a:srgbClr val="0A5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github.com/Hassam-Taimuri/karez-2.0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3200400"/>
            <a:ext cx="3383280" cy="1143000"/>
          </a:xfrm>
          <a:prstGeom prst="roundRect">
            <a:avLst>
              <a:gd name="adj" fmla="val 7200"/>
            </a:avLst>
          </a:prstGeom>
          <a:solidFill>
            <a:srgbClr val="0A5C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deployment URL]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3200400"/>
            <a:ext cx="3383280" cy="1143000"/>
          </a:xfrm>
          <a:prstGeom prst="roundRect">
            <a:avLst>
              <a:gd name="adj" fmla="val 7200"/>
            </a:avLst>
          </a:prstGeom>
          <a:solidFill>
            <a:srgbClr val="0A5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Judges' demo login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with the submission entry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0"/>
          </a:xfrm>
          <a:prstGeom prst="line">
            <a:avLst/>
          </a:prstGeom>
          <a:noFill/>
          <a:ln w="12700">
            <a:solidFill>
              <a:srgbClr val="3D7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846320"/>
            <a:ext cx="0" cy="502920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58952" y="5285232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6080" y="4846320"/>
            <a:ext cx="0" cy="553212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862072" y="5335524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349240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4846320"/>
            <a:ext cx="0" cy="603504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965192" y="5385816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5399532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4846320"/>
            <a:ext cx="0" cy="653796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068312" y="5436108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5449824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4846320"/>
            <a:ext cx="0" cy="704088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71432" y="5486400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5500116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38560" y="4846320"/>
            <a:ext cx="0" cy="754380"/>
          </a:xfrm>
          <a:prstGeom prst="line">
            <a:avLst/>
          </a:prstGeom>
          <a:noFill/>
          <a:ln w="12700">
            <a:solidFill>
              <a:srgbClr val="3D7A5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1274552" y="5536692"/>
            <a:ext cx="128016" cy="128016"/>
          </a:xfrm>
          <a:prstGeom prst="ellipse">
            <a:avLst/>
          </a:prstGeom>
          <a:solidFill>
            <a:srgbClr val="8FC7A2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5440" y="5550408"/>
            <a:ext cx="2103120" cy="50292"/>
          </a:xfrm>
          <a:prstGeom prst="line">
            <a:avLst/>
          </a:prstGeom>
          <a:noFill/>
          <a:ln w="25400">
            <a:solidFill>
              <a:srgbClr val="8FC7A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C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Karez 2.0 — honest infrastructure for honest bidding.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2026-09-04T15:18:52Z</dcterms:created>
  <dcterms:modified xsi:type="dcterms:W3CDTF">2026-09-04T15:18:52Z</dcterms:modified>
</cp:coreProperties>
</file>